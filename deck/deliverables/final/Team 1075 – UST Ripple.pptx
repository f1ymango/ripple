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5" r:id="rId6"/>
    <p:sldId id="257" r:id="rId3"/>
    <p:sldId id="258" r:id="rId4"/>
    <p:sldId id="259" r:id="rId5"/>
    <p:sldId id="260" r:id="rId9"/>
    <p:sldId id="261" r:id="rId10"/>
    <p:sldId id="262" r:id="rId11"/>
    <p:sldId id="263" r:id="rId7"/>
    <p:sldId id="264"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1.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p>
            <a:r>
              <a:t>Sources and presenter context: The full member names were supplied by the team; all five universities were confirmed as HKUST.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56-second product film auto-plays with neural narration, original music, and burned-in subtitles. The conceptual Higgsfield opening does not depict a specific crash. The Reader segment redraws the saved Aberdeen TD notice and recorded model output. The Tuen Mun corridor uses archived TD detector windows and Visual's CARTO/OpenStreetMap prototype. The plan paths are editorial graphics. The film claims no measured traffic improvement; the later case slides present the Aberdeen and Tuen Mun results. Full timed narration and provenance are in deck/previews/2026-10-18-neural-voice-reveal/.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ask: propose a one-corridor shadow trial with an operator partner, then validate the model and evaluate a supervised pilot. Reader and console are working prototype components; traffic effects in the deck are modelled results. The GitHub URL is a clickable repository 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case: this replay samples eight archived TD five-minute detector windows from 17:00 through 20:25 on 15 April 2026. The basemap is CARTo/OpenStreetMap. The 27 detector dots show observed readings at each selected time. The magenta Castle Peak Road P2 route and modeled crash location come from the saved simulated scenario; they are not observed vehicle trajectories or live control advice. The matching scenario and network hashes are checked by the console. The animated rail shows observed mean speed and counts at each sampled bin; these are not outcomes of P2. The fixed comparison panel reports P2's 4.31% lower mean simulated total delay than P0 across 18 paired conditions. Slide 10 expands the frozen comparison.</a:t>
            </a:r>
          </a:p>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5.xml"/><Relationship Id="rId5" Type="http://schemas.openxmlformats.org/officeDocument/2006/relationships/image" Target="../media/image3.png"/><Relationship Id="rId6" Type="http://schemas.openxmlformats.org/officeDocument/2006/relationships/hyperlink" Target="https://github.com/f1ymango/rippl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s://github.com/f1ymango/ripp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928"/>
        </a:solidFill>
        <a:effectLst/>
      </p:bgPr>
    </p:bg>
    <p:spTree>
      <p:nvGrpSpPr>
        <p:cNvPr id="1" name=""/>
        <p:cNvGrpSpPr/>
        <p:nvPr/>
      </p:nvGrpSpPr>
      <p:grpSpPr>
        <a:xfrm>
          <a:off x="0" y="0"/>
          <a:ext cx="0" cy="0"/>
          <a:chOff x="0" y="0"/>
          <a:chExt cx="0" cy="0"/>
        </a:xfrm>
      </p:grpSpPr>
      <p:pic>
        <p:nvPicPr>
          <p:cNvPr id="4" name="ripple-product-film-neural-voice-56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833872"/>
            <a:ext cx="6477000" cy="612648"/>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400" b="0">
                <a:solidFill>
                  <a:srgbClr val="AFBFCE"/>
                </a:solidFill>
                <a:latin typeface="Arial"/>
                <a:ea typeface="Arial"/>
                <a:cs typeface="Arial"/>
              </a:rPr>
              <a:t>WONG, Wai Ki Ricky  ·  Kwan Po Chit  ·  PATAR Arivan
Lo, Check Yin Dave  ·  WANG Yian   |   HKUST</a:t>
            </a:r>
          </a:p>
        </p:txBody>
      </p:sp>
    </p:spTree>
    <p:extLst>
      <p:ext uri="{BB962C8B-B14F-4D97-AF65-F5344CB8AC3E}">
        <p14:creationId xmlns:p14="http://schemas.microsoft.com/office/powerpoint/2010/main" val="173149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867437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04</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04</a:t>
            </a:r>
          </a:p>
        </p:txBody>
      </p:sp>
    </p:spTree>
    <p:extLst>
      <p:ext uri="{BB962C8B-B14F-4D97-AF65-F5344CB8AC3E}">
        <p14:creationId xmlns:p14="http://schemas.microsoft.com/office/powerpoint/2010/main" val="697514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05</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05</a:t>
            </a:r>
          </a:p>
        </p:txBody>
      </p:sp>
    </p:spTree>
    <p:extLst>
      <p:ext uri="{BB962C8B-B14F-4D97-AF65-F5344CB8AC3E}">
        <p14:creationId xmlns:p14="http://schemas.microsoft.com/office/powerpoint/2010/main" val="222679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09</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09</a:t>
            </a:r>
          </a:p>
        </p:txBody>
      </p:sp>
    </p:spTree>
    <p:extLst>
      <p:ext uri="{BB962C8B-B14F-4D97-AF65-F5344CB8AC3E}">
        <p14:creationId xmlns:p14="http://schemas.microsoft.com/office/powerpoint/2010/main" val="1232565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928"/>
        </a:solidFill>
        <a:effectLst/>
      </p:bgPr>
    </p:bg>
    <p:spTree>
      <p:nvGrpSpPr>
        <p:cNvPr id="1" name=""/>
        <p:cNvGrpSpPr/>
        <p:nvPr/>
      </p:nvGrpSpPr>
      <p:grpSpPr>
        <a:xfrm>
          <a:off x="0" y="0"/>
          <a:ext cx="0" cy="0"/>
          <a:chOff x="0" y="0"/>
          <a:chExt cx="0" cy="0"/>
        </a:xfrm>
      </p:grpSpPr>
      <p:sp>
        <p:nvSpPr>
          <p:cNvPr id="2" name="TextBox 1"/>
          <p:cNvSpPr txBox="1"/>
          <p:nvPr/>
        </p:nvSpPr>
        <p:spPr>
          <a:xfrm>
            <a:off x="685800" y="475488"/>
            <a:ext cx="6858000" cy="365760"/>
          </a:xfrm>
          <a:prstGeom prst="rect">
            <a:avLst/>
          </a:prstGeom>
          <a:noFill/>
        </p:spPr>
        <p:txBody>
          <a:bodyPr wrap="square" lIns="0" rIns="0" tIns="0" bIns="0" anchor="ctr">
            <a:spAutoFit/>
          </a:bodyPr>
          <a:lstStyle/>
          <a:p>
            <a:r>
              <a:rPr sz="2000" b="1">
                <a:solidFill>
                  <a:srgbClr val="32D2C2"/>
                </a:solidFill>
                <a:latin typeface="Arial"/>
              </a:rPr>
              <a:t>RIPPLE  /  THE NEXT MOVE</a:t>
            </a:r>
          </a:p>
        </p:txBody>
      </p:sp>
      <p:sp>
        <p:nvSpPr>
          <p:cNvPr id="3" name="TextBox 2"/>
          <p:cNvSpPr txBox="1"/>
          <p:nvPr/>
        </p:nvSpPr>
        <p:spPr>
          <a:xfrm>
            <a:off x="685800" y="1261872"/>
            <a:ext cx="9875520" cy="1417320"/>
          </a:xfrm>
          <a:prstGeom prst="rect">
            <a:avLst/>
          </a:prstGeom>
          <a:noFill/>
        </p:spPr>
        <p:txBody>
          <a:bodyPr wrap="square" lIns="0" rIns="0" tIns="0" bIns="0" anchor="ctr">
            <a:spAutoFit/>
          </a:bodyPr>
          <a:lstStyle/>
          <a:p>
            <a:r>
              <a:rPr sz="4900" b="1">
                <a:solidFill>
                  <a:srgbClr val="EAF8F8"/>
                </a:solidFill>
                <a:latin typeface="Arial"/>
              </a:rPr>
              <a:t>Let's test Ripple
on one corridor.</a:t>
            </a:r>
          </a:p>
        </p:txBody>
      </p:sp>
      <p:sp>
        <p:nvSpPr>
          <p:cNvPr id="4" name="TextBox 3"/>
          <p:cNvSpPr txBox="1"/>
          <p:nvPr/>
        </p:nvSpPr>
        <p:spPr>
          <a:xfrm>
            <a:off x="713232" y="2953512"/>
            <a:ext cx="10012680" cy="457200"/>
          </a:xfrm>
          <a:prstGeom prst="rect">
            <a:avLst/>
          </a:prstGeom>
          <a:noFill/>
        </p:spPr>
        <p:txBody>
          <a:bodyPr wrap="square" lIns="0" rIns="0" tIns="0" bIns="0" anchor="ctr">
            <a:spAutoFit/>
          </a:bodyPr>
          <a:lstStyle/>
          <a:p>
            <a:r>
              <a:rPr sz="2300" b="0">
                <a:solidFill>
                  <a:srgbClr val="A6C1CC"/>
                </a:solidFill>
                <a:latin typeface="Arial"/>
              </a:rPr>
              <a:t>A working Reader. Modelled response options. The operator's decision.</a:t>
            </a:r>
          </a:p>
        </p:txBody>
      </p:sp>
      <p:cxnSp>
        <p:nvCxnSpPr>
          <p:cNvPr id="5" name="Connector 4"/>
          <p:cNvCxnSpPr/>
          <p:nvPr/>
        </p:nvCxnSpPr>
        <p:spPr>
          <a:xfrm>
            <a:off x="1051560" y="4297680"/>
            <a:ext cx="10241280" cy="0"/>
          </a:xfrm>
          <a:prstGeom prst="line">
            <a:avLst/>
          </a:prstGeom>
          <a:ln w="38100">
            <a:solidFill>
              <a:srgbClr val="32D2C2"/>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14984" y="4069080"/>
            <a:ext cx="475488" cy="475488"/>
          </a:xfrm>
          <a:prstGeom prst="ellipse">
            <a:avLst/>
          </a:prstGeom>
          <a:solidFill>
            <a:srgbClr val="32D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4096512"/>
            <a:ext cx="475488" cy="365760"/>
          </a:xfrm>
          <a:prstGeom prst="rect">
            <a:avLst/>
          </a:prstGeom>
          <a:noFill/>
        </p:spPr>
        <p:txBody>
          <a:bodyPr wrap="square" lIns="0" rIns="0" tIns="0" bIns="0" anchor="ctr">
            <a:spAutoFit/>
          </a:bodyPr>
          <a:lstStyle/>
          <a:p>
            <a:pPr algn="ctr"/>
            <a:r>
              <a:rPr sz="1400" b="1">
                <a:solidFill>
                  <a:srgbClr val="051928"/>
                </a:solidFill>
                <a:latin typeface="Arial"/>
              </a:rPr>
              <a:t>01</a:t>
            </a:r>
          </a:p>
        </p:txBody>
      </p:sp>
      <p:sp>
        <p:nvSpPr>
          <p:cNvPr id="8" name="TextBox 7"/>
          <p:cNvSpPr txBox="1"/>
          <p:nvPr/>
        </p:nvSpPr>
        <p:spPr>
          <a:xfrm>
            <a:off x="758952" y="4754880"/>
            <a:ext cx="1051560" cy="384048"/>
          </a:xfrm>
          <a:prstGeom prst="rect">
            <a:avLst/>
          </a:prstGeom>
          <a:noFill/>
        </p:spPr>
        <p:txBody>
          <a:bodyPr wrap="square" lIns="0" rIns="0" tIns="0" bIns="0" anchor="ctr">
            <a:spAutoFit/>
          </a:bodyPr>
          <a:lstStyle/>
          <a:p>
            <a:pPr algn="ctr"/>
            <a:r>
              <a:rPr sz="1800" b="1">
                <a:solidFill>
                  <a:srgbClr val="EAF8F8"/>
                </a:solidFill>
                <a:latin typeface="Arial"/>
              </a:rPr>
              <a:t>READ</a:t>
            </a:r>
          </a:p>
        </p:txBody>
      </p:sp>
      <p:sp>
        <p:nvSpPr>
          <p:cNvPr id="9" name="Oval 8"/>
          <p:cNvSpPr/>
          <p:nvPr/>
        </p:nvSpPr>
        <p:spPr>
          <a:xfrm>
            <a:off x="5687568" y="4069080"/>
            <a:ext cx="475488" cy="475488"/>
          </a:xfrm>
          <a:prstGeom prst="ellipse">
            <a:avLst/>
          </a:prstGeom>
          <a:solidFill>
            <a:srgbClr val="32D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87568" y="4096512"/>
            <a:ext cx="475488" cy="365760"/>
          </a:xfrm>
          <a:prstGeom prst="rect">
            <a:avLst/>
          </a:prstGeom>
          <a:noFill/>
        </p:spPr>
        <p:txBody>
          <a:bodyPr wrap="square" lIns="0" rIns="0" tIns="0" bIns="0" anchor="ctr">
            <a:spAutoFit/>
          </a:bodyPr>
          <a:lstStyle/>
          <a:p>
            <a:pPr algn="ctr"/>
            <a:r>
              <a:rPr sz="1400" b="1">
                <a:solidFill>
                  <a:srgbClr val="051928"/>
                </a:solidFill>
                <a:latin typeface="Arial"/>
              </a:rPr>
              <a:t>02</a:t>
            </a:r>
          </a:p>
        </p:txBody>
      </p:sp>
      <p:sp>
        <p:nvSpPr>
          <p:cNvPr id="11" name="TextBox 10"/>
          <p:cNvSpPr txBox="1"/>
          <p:nvPr/>
        </p:nvSpPr>
        <p:spPr>
          <a:xfrm>
            <a:off x="5431536" y="4754880"/>
            <a:ext cx="1051560" cy="384048"/>
          </a:xfrm>
          <a:prstGeom prst="rect">
            <a:avLst/>
          </a:prstGeom>
          <a:noFill/>
        </p:spPr>
        <p:txBody>
          <a:bodyPr wrap="square" lIns="0" rIns="0" tIns="0" bIns="0" anchor="ctr">
            <a:spAutoFit/>
          </a:bodyPr>
          <a:lstStyle/>
          <a:p>
            <a:pPr algn="ctr"/>
            <a:r>
              <a:rPr sz="1800" b="1">
                <a:solidFill>
                  <a:srgbClr val="EAF8F8"/>
                </a:solidFill>
                <a:latin typeface="Arial"/>
              </a:rPr>
              <a:t>TEST</a:t>
            </a:r>
          </a:p>
        </p:txBody>
      </p:sp>
      <p:sp>
        <p:nvSpPr>
          <p:cNvPr id="12" name="Oval 11"/>
          <p:cNvSpPr/>
          <p:nvPr/>
        </p:nvSpPr>
        <p:spPr>
          <a:xfrm>
            <a:off x="10268712" y="4069080"/>
            <a:ext cx="475488" cy="475488"/>
          </a:xfrm>
          <a:prstGeom prst="ellipse">
            <a:avLst/>
          </a:prstGeom>
          <a:solidFill>
            <a:srgbClr val="32D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68712" y="4096512"/>
            <a:ext cx="475488" cy="365760"/>
          </a:xfrm>
          <a:prstGeom prst="rect">
            <a:avLst/>
          </a:prstGeom>
          <a:noFill/>
        </p:spPr>
        <p:txBody>
          <a:bodyPr wrap="square" lIns="0" rIns="0" tIns="0" bIns="0" anchor="ctr">
            <a:spAutoFit/>
          </a:bodyPr>
          <a:lstStyle/>
          <a:p>
            <a:pPr algn="ctr"/>
            <a:r>
              <a:rPr sz="1400" b="1">
                <a:solidFill>
                  <a:srgbClr val="051928"/>
                </a:solidFill>
                <a:latin typeface="Arial"/>
              </a:rPr>
              <a:t>03</a:t>
            </a:r>
          </a:p>
        </p:txBody>
      </p:sp>
      <p:sp>
        <p:nvSpPr>
          <p:cNvPr id="14" name="TextBox 13"/>
          <p:cNvSpPr txBox="1"/>
          <p:nvPr/>
        </p:nvSpPr>
        <p:spPr>
          <a:xfrm>
            <a:off x="10012680" y="4754880"/>
            <a:ext cx="1051560" cy="384048"/>
          </a:xfrm>
          <a:prstGeom prst="rect">
            <a:avLst/>
          </a:prstGeom>
          <a:noFill/>
        </p:spPr>
        <p:txBody>
          <a:bodyPr wrap="square" lIns="0" rIns="0" tIns="0" bIns="0" anchor="ctr">
            <a:spAutoFit/>
          </a:bodyPr>
          <a:lstStyle/>
          <a:p>
            <a:pPr algn="ctr"/>
            <a:r>
              <a:rPr sz="1800" b="1">
                <a:solidFill>
                  <a:srgbClr val="EAF8F8"/>
                </a:solidFill>
                <a:latin typeface="Arial"/>
              </a:rPr>
              <a:t>DECIDE</a:t>
            </a:r>
          </a:p>
        </p:txBody>
      </p:sp>
      <p:sp>
        <p:nvSpPr>
          <p:cNvPr id="15" name="TextBox 14"/>
          <p:cNvSpPr txBox="1"/>
          <p:nvPr/>
        </p:nvSpPr>
        <p:spPr>
          <a:xfrm>
            <a:off x="713232" y="5760720"/>
            <a:ext cx="6217920" cy="347472"/>
          </a:xfrm>
          <a:prstGeom prst="rect">
            <a:avLst/>
          </a:prstGeom>
          <a:noFill/>
        </p:spPr>
        <p:txBody>
          <a:bodyPr wrap="square" lIns="0" rIns="0" tIns="0" bIns="0" anchor="ctr">
            <a:spAutoFit/>
          </a:bodyPr>
          <a:lstStyle/>
          <a:p>
            <a:r>
              <a:rPr sz="2100" b="1">
                <a:solidFill>
                  <a:srgbClr val="EAF8F8"/>
                </a:solidFill>
                <a:latin typeface="Arial"/>
              </a:rPr>
              <a:t>Explore the working prototype</a:t>
            </a:r>
          </a:p>
        </p:txBody>
      </p:sp>
      <p:sp>
        <p:nvSpPr>
          <p:cNvPr id="16" name="TextBox 15">
            <a:hlinkClick r:id="rId4"/>
          </p:cNvPr>
          <p:cNvSpPr txBox="1"/>
          <p:nvPr/>
        </p:nvSpPr>
        <p:spPr>
          <a:xfrm>
            <a:off x="713232" y="6153912"/>
            <a:ext cx="7589520" cy="320040"/>
          </a:xfrm>
          <a:prstGeom prst="rect">
            <a:avLst/>
          </a:prstGeom>
          <a:noFill/>
        </p:spPr>
        <p:txBody>
          <a:bodyPr wrap="square" lIns="0" rIns="0" tIns="0" bIns="0" anchor="ctr">
            <a:spAutoFit/>
          </a:bodyPr>
          <a:lstStyle/>
          <a:p>
            <a:r>
              <a:rPr sz="1700" b="0">
                <a:solidFill>
                  <a:srgbClr val="32D2C2"/>
                </a:solidFill>
                <a:latin typeface="Arial"/>
              </a:rPr>
              <a:t>github.com/f1ymango/ripple</a:t>
            </a:r>
          </a:p>
        </p:txBody>
      </p:sp>
    </p:spTree>
    <p:extLst>
      <p:ext uri="{BB962C8B-B14F-4D97-AF65-F5344CB8AC3E}">
        <p14:creationId xmlns:p14="http://schemas.microsoft.com/office/powerpoint/2010/main" val="31007941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